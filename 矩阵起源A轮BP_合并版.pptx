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8"/>
    <p:sldId id="259" r:id="rId9"/>
    <p:sldId id="260" r:id="rId10"/>
    <p:sldId id="261" r:id="rId11"/>
    <p:sldId id="262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64800" cy="628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54000"/>
            <a:ext cx="7920000" cy="46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联想乐享 × MatrixOrigin MOI  PoC 成果汇报</a:t>
            </a:r>
            <a:endParaRPr sz="2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4000"/>
            <a:ext cx="3888000" cy="46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50" b="0">
                <a:solidFill>
                  <a:srgbClr val="C6D2EA"/>
                </a:solidFill>
                <a:latin typeface="Microsoft YaHei"/>
                <a:ea typeface="Microsoft YaHei"/>
                <a:cs typeface="Microsoft YaHei"/>
              </a:rPr>
              <a:t>第一部分  |  文档解析层 · 全量支持</a:t>
            </a:r>
            <a:endParaRPr sz="1050" b="0">
              <a:solidFill>
                <a:srgbClr val="C6D2EA"/>
              </a:solidFill>
              <a:latin typeface="Microsoft YaHei"/>
              <a:ea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999" y="720000"/>
            <a:ext cx="11688120" cy="792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810000"/>
            <a:ext cx="720000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文档解析全量交付</a:t>
            </a:r>
            <a:endParaRPr sz="18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2000" y="1098000"/>
            <a:ext cx="7200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200" b="0">
                <a:solidFill>
                  <a:srgbClr val="C6D2EA"/>
                </a:solidFill>
                <a:latin typeface="Microsoft YaHei"/>
                <a:ea typeface="Microsoft YaHei"/>
                <a:cs typeface="Microsoft YaHei"/>
              </a:rPr>
              <a:t>覆盖 7 大文档格式 / 21 个 P0 样本 / 4 类业务场景，解析层 100% 支持</a:t>
            </a:r>
            <a:endParaRPr sz="1200" b="0">
              <a:solidFill>
                <a:srgbClr val="C6D2EA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60120" y="810000"/>
            <a:ext cx="144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100%</a:t>
            </a:r>
            <a:endParaRPr sz="3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960120" y="1188000"/>
            <a:ext cx="14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B8C6E3"/>
                </a:solidFill>
                <a:latin typeface="Microsoft YaHei"/>
                <a:ea typeface="Microsoft YaHei"/>
                <a:cs typeface="Microsoft YaHei"/>
              </a:rPr>
              <a:t>解析通过</a:t>
            </a:r>
            <a:endParaRPr sz="1000" b="0">
              <a:solidFill>
                <a:srgbClr val="B8C6E3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12120" y="810000"/>
            <a:ext cx="144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3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12120" y="1188000"/>
            <a:ext cx="14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B8C6E3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lang="en-US" sz="1000" b="0">
                <a:solidFill>
                  <a:srgbClr val="B8C6E3"/>
                </a:solidFill>
                <a:latin typeface="Microsoft YaHei"/>
                <a:ea typeface="Microsoft YaHei"/>
                <a:cs typeface="Microsoft YaHei"/>
              </a:rPr>
              <a:t>M</a:t>
            </a:r>
            <a:r>
              <a:rPr sz="1000" b="0">
                <a:solidFill>
                  <a:srgbClr val="B8C6E3"/>
                </a:solidFill>
                <a:latin typeface="Microsoft YaHei"/>
                <a:ea typeface="Microsoft YaHei"/>
                <a:cs typeface="Microsoft YaHei"/>
              </a:rPr>
              <a:t> 场景</a:t>
            </a:r>
            <a:endParaRPr sz="1000" b="0">
              <a:solidFill>
                <a:srgbClr val="B8C6E3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64120" y="810000"/>
            <a:ext cx="144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3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64120" y="1188000"/>
            <a:ext cx="14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B8C6E3"/>
                </a:solidFill>
                <a:latin typeface="Microsoft YaHei"/>
                <a:ea typeface="Microsoft YaHei"/>
                <a:cs typeface="Microsoft YaHei"/>
              </a:rPr>
              <a:t>LR 样本</a:t>
            </a:r>
            <a:endParaRPr sz="1000" b="0">
              <a:solidFill>
                <a:srgbClr val="B8C6E3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16120" y="810000"/>
            <a:ext cx="144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3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16120" y="1188000"/>
            <a:ext cx="14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B8C6E3"/>
                </a:solidFill>
                <a:latin typeface="Microsoft YaHei"/>
                <a:ea typeface="Microsoft YaHei"/>
                <a:cs typeface="Microsoft YaHei"/>
              </a:rPr>
              <a:t>文档格式</a:t>
            </a:r>
            <a:endParaRPr sz="1000" b="0">
              <a:solidFill>
                <a:srgbClr val="B8C6E3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1999" y="1746000"/>
            <a:ext cx="43200" cy="198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999" y="1692000"/>
            <a:ext cx="682200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LR 数据处理任务矩阵</a:t>
            </a:r>
            <a:endParaRPr sz="130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41999" y="1890000"/>
            <a:ext cx="6822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按文档格式汇总 · 全部为 P0 优先级</a:t>
            </a:r>
            <a:endParaRPr sz="95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7999" y="2160000"/>
            <a:ext cx="864000" cy="251999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7999" y="2160000"/>
            <a:ext cx="864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文档格式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51999" y="2160000"/>
            <a:ext cx="1368000" cy="251999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1999" y="2160000"/>
            <a:ext cx="1368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文档类型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19999" y="2160000"/>
            <a:ext cx="503999" cy="251999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19999" y="2160000"/>
            <a:ext cx="503999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023998" y="2160000"/>
            <a:ext cx="3456000" cy="251999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23998" y="2160000"/>
            <a:ext cx="3456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核心处理要求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79998" y="2160000"/>
            <a:ext cx="720000" cy="251999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9998" y="2160000"/>
            <a:ext cx="72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7999" y="2411999"/>
            <a:ext cx="864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7999" y="24119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PDF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51999" y="2411999"/>
            <a:ext cx="1368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1999" y="24119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表格+文字混合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19999" y="2411999"/>
            <a:ext cx="503999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19999" y="24119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023998" y="2411999"/>
            <a:ext cx="3456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23998" y="24119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多级标题 / 正文 / 图片 / 表格，抽取财报时间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79998" y="2411999"/>
            <a:ext cx="720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60998" y="24515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7999" y="2671199"/>
            <a:ext cx="864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7999" y="26711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PDF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51999" y="2671199"/>
            <a:ext cx="1368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51999" y="26711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繁体中文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519999" y="2671199"/>
            <a:ext cx="503999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19999" y="26711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023998" y="2671199"/>
            <a:ext cx="3456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23998" y="26711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繁简转换 + 结构化解析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479998" y="2671199"/>
            <a:ext cx="720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60998" y="27107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87999" y="2930399"/>
            <a:ext cx="864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7999" y="29303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PPTX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51999" y="2930399"/>
            <a:ext cx="1368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51999" y="29303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培训材料（图文）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519999" y="2930399"/>
            <a:ext cx="503999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19999" y="29303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023998" y="2930399"/>
            <a:ext cx="3456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023998" y="29303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按页返回文本 / 图片 / 表格三类内容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479998" y="2930399"/>
            <a:ext cx="720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60998" y="29699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87999" y="3189599"/>
            <a:ext cx="864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7999" y="31895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DOCX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51999" y="3189599"/>
            <a:ext cx="1368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51999" y="31895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Q&amp;A 类型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519999" y="3189599"/>
            <a:ext cx="503999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19999" y="31895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023998" y="3189599"/>
            <a:ext cx="3456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023998" y="31895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结构化 QA 对 list 输出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479998" y="3189599"/>
            <a:ext cx="720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560998" y="32291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87999" y="3448799"/>
            <a:ext cx="864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7999" y="34487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DOCX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151999" y="3448799"/>
            <a:ext cx="1368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51999" y="34487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文章类型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519999" y="3448799"/>
            <a:ext cx="503999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519999" y="34487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023998" y="3448799"/>
            <a:ext cx="3456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023998" y="34487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多级结构 + 解决方案 / 政策 / 新闻字段抽取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479998" y="3448799"/>
            <a:ext cx="720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560998" y="34883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287999" y="3707999"/>
            <a:ext cx="864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87999" y="37079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XLSX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151999" y="3707999"/>
            <a:ext cx="1368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51999" y="37079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Q&amp;A 类型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2519999" y="3707999"/>
            <a:ext cx="503999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19999" y="37079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23998" y="3707999"/>
            <a:ext cx="3456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023998" y="37079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按行解析为 QA 对 list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6479998" y="3707999"/>
            <a:ext cx="720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560998" y="37475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287999" y="3967199"/>
            <a:ext cx="864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7999" y="39671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HTML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151999" y="3967199"/>
            <a:ext cx="1368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51999" y="39671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静态网页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519999" y="3967199"/>
            <a:ext cx="503999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519999" y="39671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3023998" y="3967199"/>
            <a:ext cx="3456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23998" y="39671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标题 / 子标题 / 文字 / 表格提取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6479998" y="3967199"/>
            <a:ext cx="720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560998" y="40067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87999" y="4226399"/>
            <a:ext cx="864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87999" y="42263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URL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151999" y="4226399"/>
            <a:ext cx="1368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51999" y="42263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在线爬取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2519999" y="4226399"/>
            <a:ext cx="503999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519999" y="42263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3023998" y="4226399"/>
            <a:ext cx="3456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023998" y="42263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实时爬取 + 解决方案 / 商品字段抽取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479998" y="4226399"/>
            <a:ext cx="720000" cy="259200"/>
          </a:xfrm>
          <a:prstGeom prst="rect">
            <a:avLst/>
          </a:prstGeom>
          <a:solidFill>
            <a:srgbClr val="E8EFFC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6560998" y="42659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287999" y="4485599"/>
            <a:ext cx="864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87999" y="4485599"/>
            <a:ext cx="864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图片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151999" y="4485599"/>
            <a:ext cx="1368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51999" y="4485599"/>
            <a:ext cx="1368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OCR + 语义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2519999" y="4485599"/>
            <a:ext cx="503999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519999" y="4485599"/>
            <a:ext cx="503999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3023998" y="4485599"/>
            <a:ext cx="3456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023998" y="4485599"/>
            <a:ext cx="3456000" cy="25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解决方案 / 商品图片结构化字段抽取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479998" y="4485599"/>
            <a:ext cx="720000" cy="259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560998" y="4525199"/>
            <a:ext cx="558000" cy="180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287999" y="4744799"/>
            <a:ext cx="6911999" cy="270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95999" y="4744799"/>
            <a:ext cx="522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合计：7 格式 / 9 类型 / 21 样本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5615999" y="4744799"/>
            <a:ext cx="1512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50" b="1">
                <a:solidFill>
                  <a:srgbClr val="8FD9B6"/>
                </a:solidFill>
                <a:latin typeface="Microsoft YaHei"/>
                <a:ea typeface="Microsoft YaHei"/>
                <a:cs typeface="Microsoft YaHei"/>
              </a:rPr>
              <a:t>全部通过 · 100%</a:t>
            </a:r>
            <a:endParaRPr sz="1050" b="1">
              <a:solidFill>
                <a:srgbClr val="8FD9B6"/>
              </a:solidFill>
              <a:latin typeface="Microsoft YaHei"/>
              <a:ea typeface="Microsoft YaHei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7272000" y="1746000"/>
            <a:ext cx="43200" cy="198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362000" y="1692000"/>
            <a:ext cx="459000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4 个 P</a:t>
            </a:r>
            <a:r>
              <a:rPr lang="en-US" sz="13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M</a:t>
            </a:r>
            <a:r>
              <a:rPr sz="13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 业务场景</a:t>
            </a:r>
            <a:endParaRPr sz="130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362000" y="1890000"/>
            <a:ext cx="459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解析层均已打通，支撑业务上层使用</a:t>
            </a:r>
            <a:endParaRPr sz="95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7272000" y="2160000"/>
            <a:ext cx="4680000" cy="10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272000" y="2160000"/>
            <a:ext cx="54000" cy="10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397999" y="2214000"/>
            <a:ext cx="324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1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电商 · 商品入库标准化</a:t>
            </a:r>
            <a:endParaRPr sz="11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11232000" y="2250000"/>
            <a:ext cx="630000" cy="198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397999" y="2502000"/>
            <a:ext cx="28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● 21 条商品</a:t>
            </a:r>
            <a:endParaRPr sz="95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397999" y="2700000"/>
            <a:ext cx="448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《商品标注操作手册》21 项核查字段，商详页+互联网交叉验证。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272000" y="3294000"/>
            <a:ext cx="4680000" cy="10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272000" y="3294000"/>
            <a:ext cx="54000" cy="10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397999" y="3348000"/>
            <a:ext cx="324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1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服务 · iKnow 知识库</a:t>
            </a:r>
            <a:endParaRPr sz="11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11232000" y="3384000"/>
            <a:ext cx="630000" cy="198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7397999" y="3636000"/>
            <a:ext cx="28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● 10 条知识</a:t>
            </a:r>
            <a:endParaRPr sz="95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397999" y="3834000"/>
            <a:ext cx="448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文本 / PDF / 图片 / GIF / 内嵌 HTML / 表格 等 6 类复合形态全解析。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7272000" y="4428000"/>
            <a:ext cx="4680000" cy="10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272000" y="4428000"/>
            <a:ext cx="54000" cy="10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397999" y="4482000"/>
            <a:ext cx="324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1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其他 · EDM 邮件解读</a:t>
            </a:r>
            <a:endParaRPr sz="11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11232000" y="4518000"/>
            <a:ext cx="630000" cy="198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397999" y="4770000"/>
            <a:ext cx="28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● 1 封 + 8 图</a:t>
            </a:r>
            <a:endParaRPr sz="95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7397999" y="4968000"/>
            <a:ext cx="448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.eml 邮件正文及附件解析，生成 3 句内摘要并支持追问、脑图。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7272000" y="5562000"/>
            <a:ext cx="4680000" cy="10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272000" y="5562000"/>
            <a:ext cx="54000" cy="10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397999" y="5616000"/>
            <a:ext cx="324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1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网页 · URL 实时问答</a:t>
            </a:r>
            <a:endParaRPr sz="11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11232000" y="5652000"/>
            <a:ext cx="630000" cy="198000"/>
          </a:xfrm>
          <a:prstGeom prst="round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000" tIns="7200" rIns="18000" bIns="72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通过</a:t>
            </a:r>
            <a:endParaRPr sz="1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397999" y="5904000"/>
            <a:ext cx="28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● 5 个网页</a:t>
            </a:r>
            <a:endParaRPr sz="95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7397999" y="6102000"/>
            <a:ext cx="4482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ThinkSystem / ThinkStation / 昭阳 / ThinkAgile / 万全 在线爬取 + 解析。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251999" y="6552000"/>
            <a:ext cx="79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9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MatrixOrigin · MOI  ×  联想乐享  PoC 汇报</a:t>
            </a:r>
            <a:endParaRPr sz="9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10932119" y="6552000"/>
            <a:ext cx="1007999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9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1 / 2</a:t>
            </a:r>
            <a:endParaRPr sz="9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00"/>
            <a:ext cx="64800" cy="628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999" y="54000"/>
            <a:ext cx="7920000" cy="46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联想乐享 × MatrixOrigin MOI  PoC 成果汇报</a:t>
            </a:r>
            <a:endParaRPr sz="20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00000" y="54000"/>
            <a:ext cx="3888000" cy="46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50" b="0">
                <a:solidFill>
                  <a:srgbClr val="C6D2EA"/>
                </a:solidFill>
                <a:latin typeface="Microsoft YaHei"/>
                <a:ea typeface="Microsoft YaHei"/>
                <a:cs typeface="Microsoft YaHei"/>
              </a:rPr>
              <a:t>第二部分  |  问答层 · 效果分析</a:t>
            </a:r>
            <a:endParaRPr sz="1050" b="0">
              <a:solidFill>
                <a:srgbClr val="C6D2EA"/>
              </a:solidFill>
              <a:latin typeface="Microsoft YaHei"/>
              <a:ea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999" y="720000"/>
            <a:ext cx="11688120" cy="360000"/>
          </a:xfrm>
          <a:prstGeom prst="rect">
            <a:avLst/>
          </a:prstGeom>
          <a:solidFill>
            <a:srgbClr val="E8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720000"/>
            <a:ext cx="11472119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1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基于 80 条真实问答用例打分   ·   2 = 完全正确   ·   1 = 合格   ·   0 = 不合格</a:t>
            </a:r>
            <a:endParaRPr sz="110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1999" y="1242000"/>
            <a:ext cx="43200" cy="198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999" y="1188000"/>
            <a:ext cx="549000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总体得分</a:t>
            </a:r>
            <a:endParaRPr sz="130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1999" y="1386000"/>
            <a:ext cx="5490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80 条问答用例汇总</a:t>
            </a:r>
            <a:endParaRPr sz="95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7999" y="1638000"/>
            <a:ext cx="252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999" y="1638000"/>
            <a:ext cx="64800" cy="115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998" y="1710000"/>
            <a:ext cx="23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1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加权达成率</a:t>
            </a:r>
            <a:endParaRPr sz="11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7998" y="1908000"/>
            <a:ext cx="2340000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360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51.2%</a:t>
            </a:r>
            <a:endParaRPr sz="360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7998" y="2502000"/>
            <a:ext cx="23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0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得分 82 / 满分 160</a:t>
            </a:r>
            <a:endParaRPr sz="10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915999" y="1638000"/>
            <a:ext cx="2520000" cy="115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15999" y="1638000"/>
            <a:ext cx="64800" cy="1152000"/>
          </a:xfrm>
          <a:prstGeom prst="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05999" y="1710000"/>
            <a:ext cx="23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1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合格率 (≥1 分)</a:t>
            </a:r>
            <a:endParaRPr sz="11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05999" y="1908000"/>
            <a:ext cx="2340000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3600" b="1">
                <a:solidFill>
                  <a:srgbClr val="189E6B"/>
                </a:solidFill>
                <a:latin typeface="Microsoft YaHei"/>
                <a:ea typeface="Microsoft YaHei"/>
                <a:cs typeface="Microsoft YaHei"/>
              </a:rPr>
              <a:t>66.2%</a:t>
            </a:r>
            <a:endParaRPr sz="3600" b="1">
              <a:solidFill>
                <a:srgbClr val="189E6B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05999" y="2502000"/>
            <a:ext cx="2340000" cy="25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10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53 条问答合格以上</a:t>
            </a:r>
            <a:endParaRPr sz="10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7999" y="2952000"/>
            <a:ext cx="1866150" cy="270000"/>
          </a:xfrm>
          <a:prstGeom prst="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7999" y="2952000"/>
            <a:ext cx="186615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  ·  36.2%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154149" y="2952000"/>
            <a:ext cx="1544400" cy="270000"/>
          </a:xfrm>
          <a:prstGeom prst="rect">
            <a:avLst/>
          </a:prstGeom>
          <a:solidFill>
            <a:srgbClr val="E3A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54149" y="2952000"/>
            <a:ext cx="15444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 ·  30.0%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98549" y="2952000"/>
            <a:ext cx="1737450" cy="270000"/>
          </a:xfrm>
          <a:prstGeom prst="rect">
            <a:avLst/>
          </a:prstGeom>
          <a:solidFill>
            <a:srgbClr val="D9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98549" y="2952000"/>
            <a:ext cx="173745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27  ·  33.8%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7999" y="3355200"/>
            <a:ext cx="144000" cy="144000"/>
          </a:xfrm>
          <a:prstGeom prst="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7999" y="3330000"/>
            <a:ext cx="1512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2 分 · 完全正确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015999" y="3355200"/>
            <a:ext cx="144000" cy="144000"/>
          </a:xfrm>
          <a:prstGeom prst="rect">
            <a:avLst/>
          </a:prstGeom>
          <a:solidFill>
            <a:srgbClr val="E3A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95999" y="3330000"/>
            <a:ext cx="1512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1 分 · 合格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743999" y="3355200"/>
            <a:ext cx="144000" cy="144000"/>
          </a:xfrm>
          <a:prstGeom prst="rect">
            <a:avLst/>
          </a:prstGeom>
          <a:solidFill>
            <a:srgbClr val="D9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23999" y="3330000"/>
            <a:ext cx="1512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0 分 · 不合格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0000" y="1242000"/>
            <a:ext cx="43200" cy="198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0000" y="1188000"/>
            <a:ext cx="574200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按文档类型的问答合格率</a:t>
            </a:r>
            <a:endParaRPr sz="130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10000" y="1386000"/>
            <a:ext cx="574200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合格率 = (2 分 + 1 分) / 总数</a:t>
            </a:r>
            <a:endParaRPr sz="95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10000" y="1740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PPT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08000" y="1758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08000" y="1758000"/>
            <a:ext cx="3600000" cy="162000"/>
          </a:xfrm>
          <a:prstGeom prst="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98000" y="1740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100%  (10/10)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10000" y="2022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Word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08000" y="2040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08000" y="2040000"/>
            <a:ext cx="3000000" cy="162000"/>
          </a:xfrm>
          <a:prstGeom prst="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998000" y="2022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83%  (10/12)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0000" y="2304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网页类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308000" y="2322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08000" y="2322000"/>
            <a:ext cx="2700000" cy="1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98000" y="2304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75%  (15/20)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10000" y="2586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PDF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308000" y="2604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08000" y="2604000"/>
            <a:ext cx="2084210" cy="1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98000" y="2586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58%  (11/19)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10000" y="2868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markdown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308000" y="2886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08000" y="2886000"/>
            <a:ext cx="1800000" cy="1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98000" y="2868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50%  (1/2)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10000" y="3150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表格类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308000" y="3168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08000" y="3168000"/>
            <a:ext cx="1800000" cy="162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998000" y="3150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50%  (2/4)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210000" y="3432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图片类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308000" y="3450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08000" y="3450000"/>
            <a:ext cx="1309090" cy="162000"/>
          </a:xfrm>
          <a:prstGeom prst="rect">
            <a:avLst/>
          </a:prstGeom>
          <a:solidFill>
            <a:srgbClr val="E3A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998000" y="3432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36%  (4/11)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210000" y="3714000"/>
            <a:ext cx="1080000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txt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308000" y="3732000"/>
            <a:ext cx="3600000" cy="162000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98000" y="3714000"/>
            <a:ext cx="827999" cy="19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5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0%  (0/2)</a:t>
            </a:r>
            <a:endParaRPr sz="105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51999" y="4194000"/>
            <a:ext cx="43200" cy="198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1999" y="4140000"/>
            <a:ext cx="11598120" cy="30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0E1F3A"/>
                </a:solidFill>
                <a:latin typeface="Microsoft YaHei"/>
                <a:ea typeface="Microsoft YaHei"/>
                <a:cs typeface="Microsoft YaHei"/>
              </a:rPr>
              <a:t>效果分层</a:t>
            </a:r>
            <a:endParaRPr sz="1300" b="1">
              <a:solidFill>
                <a:srgbClr val="0E1F3A"/>
              </a:solidFill>
              <a:latin typeface="Microsoft YaHei"/>
              <a:ea typeface="Microsoft YaHe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41999" y="4338000"/>
            <a:ext cx="11598120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5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基于 80 条用例评分拆解</a:t>
            </a:r>
            <a:endParaRPr sz="95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51999" y="4572000"/>
            <a:ext cx="3824040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51999" y="4572000"/>
            <a:ext cx="3824040" cy="324000"/>
          </a:xfrm>
          <a:prstGeom prst="rect">
            <a:avLst/>
          </a:prstGeom>
          <a:solidFill>
            <a:srgbClr val="18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77998" y="4572000"/>
            <a:ext cx="1440000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强项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77998" y="4572000"/>
            <a:ext cx="3572041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合格率 ≥ 80%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77998" y="49859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PPT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77998" y="49859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189E6B"/>
                </a:solidFill>
                <a:latin typeface="Microsoft YaHei"/>
                <a:ea typeface="Microsoft YaHei"/>
                <a:cs typeface="Microsoft YaHei"/>
              </a:rPr>
              <a:t>100%  (10/10)</a:t>
            </a:r>
            <a:endParaRPr sz="1000" b="1">
              <a:solidFill>
                <a:srgbClr val="189E6B"/>
              </a:solidFill>
              <a:latin typeface="Microsoft YaHei"/>
              <a:ea typeface="Microsoft YaHei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77998" y="52091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Word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77998" y="52091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189E6B"/>
                </a:solidFill>
                <a:latin typeface="Microsoft YaHei"/>
                <a:ea typeface="Microsoft YaHei"/>
                <a:cs typeface="Microsoft YaHei"/>
              </a:rPr>
              <a:t>83%   (10/12)</a:t>
            </a:r>
            <a:endParaRPr sz="1000" b="1">
              <a:solidFill>
                <a:srgbClr val="189E6B"/>
              </a:solidFill>
              <a:latin typeface="Microsoft YaHei"/>
              <a:ea typeface="Microsoft YaHe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77998" y="54323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Word QA / 带链接 QA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77998" y="54323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189E6B"/>
                </a:solidFill>
                <a:latin typeface="Microsoft YaHei"/>
                <a:ea typeface="Microsoft YaHei"/>
                <a:cs typeface="Microsoft YaHei"/>
              </a:rPr>
              <a:t>2 分占比 75%</a:t>
            </a:r>
            <a:endParaRPr sz="1000" b="1">
              <a:solidFill>
                <a:srgbClr val="189E6B"/>
              </a:solidFill>
              <a:latin typeface="Microsoft YaHei"/>
              <a:ea typeface="Microsoft YaHe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77998" y="5691599"/>
            <a:ext cx="3572041" cy="10800"/>
          </a:xfrm>
          <a:prstGeom prst="rect">
            <a:avLst/>
          </a:prstGeom>
          <a:solidFill>
            <a:srgbClr val="DDE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7998" y="5745599"/>
            <a:ext cx="3572041" cy="716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8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结构化文档、PPT 分页材料、Word QA 类表现稳定，可直接投入使用。</a:t>
            </a:r>
            <a:endParaRPr sz="98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84039" y="4572000"/>
            <a:ext cx="3824040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84039" y="4572000"/>
            <a:ext cx="3824040" cy="324000"/>
          </a:xfrm>
          <a:prstGeom prst="rect">
            <a:avLst/>
          </a:prstGeom>
          <a:solidFill>
            <a:srgbClr val="1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10038" y="4572000"/>
            <a:ext cx="1440000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中等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310038" y="4572000"/>
            <a:ext cx="3572041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合格率 50 ~ 75%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310038" y="49859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网页类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4310038" y="49859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75%  (15/20)</a:t>
            </a:r>
            <a:endParaRPr sz="100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310038" y="52091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PDF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310038" y="52091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58%  (11/19)</a:t>
            </a:r>
            <a:endParaRPr sz="100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310038" y="54323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表格 / markdown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310038" y="54323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1F5FE0"/>
                </a:solidFill>
                <a:latin typeface="Microsoft YaHei"/>
                <a:ea typeface="Microsoft YaHei"/>
                <a:cs typeface="Microsoft YaHei"/>
              </a:rPr>
              <a:t>50%</a:t>
            </a:r>
            <a:endParaRPr sz="1000" b="1">
              <a:solidFill>
                <a:srgbClr val="1F5FE0"/>
              </a:solidFill>
              <a:latin typeface="Microsoft YaHei"/>
              <a:ea typeface="Microsoft YaHei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4310038" y="5691599"/>
            <a:ext cx="3572041" cy="10800"/>
          </a:xfrm>
          <a:prstGeom prst="rect">
            <a:avLst/>
          </a:prstGeom>
          <a:solidFill>
            <a:srgbClr val="DDE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310038" y="5745599"/>
            <a:ext cx="3572041" cy="716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8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在线网页与多层级 PDF 整体可用；PDF 架构图、跨页表格类用例仍有偏差。</a:t>
            </a:r>
            <a:endParaRPr sz="98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116079" y="4572000"/>
            <a:ext cx="3824040" cy="1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116079" y="4572000"/>
            <a:ext cx="3824040" cy="324000"/>
          </a:xfrm>
          <a:prstGeom prst="rect">
            <a:avLst/>
          </a:prstGeom>
          <a:solidFill>
            <a:srgbClr val="D9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42078" y="4572000"/>
            <a:ext cx="1440000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薄弱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242078" y="4572000"/>
            <a:ext cx="3572041" cy="3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合格率 &lt; 40%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242078" y="49859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图片类（宣传图）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242078" y="49859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D9454F"/>
                </a:solidFill>
                <a:latin typeface="Microsoft YaHei"/>
                <a:ea typeface="Microsoft YaHei"/>
                <a:cs typeface="Microsoft YaHei"/>
              </a:rPr>
              <a:t>36%  (4/11)</a:t>
            </a:r>
            <a:endParaRPr sz="1000" b="1">
              <a:solidFill>
                <a:srgbClr val="D9454F"/>
              </a:solidFill>
              <a:latin typeface="Microsoft YaHei"/>
              <a:ea typeface="Microsoft YaHei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242078" y="52091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txt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242078" y="52091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D9454F"/>
                </a:solidFill>
                <a:latin typeface="Microsoft YaHei"/>
                <a:ea typeface="Microsoft YaHei"/>
                <a:cs typeface="Microsoft YaHei"/>
              </a:rPr>
              <a:t>0%  (0/2)</a:t>
            </a:r>
            <a:endParaRPr sz="1000" b="1">
              <a:solidFill>
                <a:srgbClr val="D9454F"/>
              </a:solidFill>
              <a:latin typeface="Microsoft YaHei"/>
              <a:ea typeface="Microsoft YaHei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242078" y="54323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1000" b="0">
                <a:solidFill>
                  <a:srgbClr val="222A3A"/>
                </a:solidFill>
                <a:latin typeface="Microsoft YaHei"/>
                <a:ea typeface="Microsoft YaHei"/>
                <a:cs typeface="Microsoft YaHei"/>
              </a:rPr>
              <a:t>PDF 多架构图/报告</a:t>
            </a:r>
            <a:endParaRPr sz="1000" b="0">
              <a:solidFill>
                <a:srgbClr val="222A3A"/>
              </a:solidFill>
              <a:latin typeface="Microsoft YaHei"/>
              <a:ea typeface="Microsoft YaHei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242078" y="5432399"/>
            <a:ext cx="3572041" cy="1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1000" b="1">
                <a:solidFill>
                  <a:srgbClr val="D9454F"/>
                </a:solidFill>
                <a:latin typeface="Microsoft YaHei"/>
                <a:ea typeface="Microsoft YaHei"/>
                <a:cs typeface="Microsoft YaHei"/>
              </a:rPr>
              <a:t>偏低</a:t>
            </a:r>
            <a:endParaRPr sz="1000" b="1">
              <a:solidFill>
                <a:srgbClr val="D9454F"/>
              </a:solidFill>
              <a:latin typeface="Microsoft YaHei"/>
              <a:ea typeface="Microsoft YaHei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8242078" y="5691599"/>
            <a:ext cx="3572041" cy="10800"/>
          </a:xfrm>
          <a:prstGeom prst="rect">
            <a:avLst/>
          </a:prstGeom>
          <a:solidFill>
            <a:srgbClr val="DDE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242078" y="5745599"/>
            <a:ext cx="3572041" cy="7164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t"/>
          <a:lstStyle/>
          <a:p>
            <a:pPr algn="l"/>
            <a:r>
              <a:rPr sz="98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宣传图层级文字、长 txt 新闻、复杂图文报告类问答偏弱，是本次 PoC 的主要短板。</a:t>
            </a:r>
            <a:endParaRPr sz="98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251999" y="6552000"/>
            <a:ext cx="7920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l"/>
            <a:r>
              <a:rPr sz="9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MatrixOrigin · MOI  ×  联想乐享  PoC 汇报</a:t>
            </a:r>
            <a:endParaRPr sz="9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0932119" y="6552000"/>
            <a:ext cx="1007999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1600" rIns="54000" bIns="21600" rtlCol="0" anchor="ctr"/>
          <a:lstStyle/>
          <a:p>
            <a:pPr algn="r"/>
            <a:r>
              <a:rPr sz="900" b="0">
                <a:solidFill>
                  <a:srgbClr val="6B7385"/>
                </a:solidFill>
                <a:latin typeface="Microsoft YaHei"/>
                <a:ea typeface="Microsoft YaHei"/>
                <a:cs typeface="Microsoft YaHei"/>
              </a:rPr>
              <a:t>2 / 2</a:t>
            </a:r>
            <a:endParaRPr sz="900" b="0">
              <a:solidFill>
                <a:srgbClr val="6B7385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 MOI 能交出更好的结果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联想乐享 PoC 横向对比 · MOI 全面领先 Coze 与百度千帆  ·  四大产品优势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6424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MatrixOrigin · 矩阵起源    ×    联想乐享 战略合作交流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754880" cy="1325880"/>
          </a:xfrm>
          <a:prstGeom prst="rect">
            <a:avLst/>
          </a:prstGeom>
          <a:solidFill>
            <a:srgbClr val="F5F7FB"/>
          </a:solidFill>
          <a:ln w="9525">
            <a:solidFill>
              <a:srgbClr val="D9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43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联想乐享 PoC 横向对比 · 关键结论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文档解析通过率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7 格式 · 9 类型 · 21 P0 样本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48840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70%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4884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通用知识任务可用率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横向优于 Coze · 百度千帆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0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TOP1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AI 评测 &amp; 人工评测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双榜领先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94960" y="1051560"/>
            <a:ext cx="6309360" cy="132588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1704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根因：我们不是在做一个知识库 Agent，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1435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而是在做企业 AI 的数据底座 + Agent 运行时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23560" y="1920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结构化 + 非结构化数据统一存储 / 全链路自研 / GPU Native · NVIDIA AIDP 合作伙伴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" y="260604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7492" y="2606040"/>
            <a:ext cx="73152" cy="3840480"/>
          </a:xfrm>
          <a:prstGeom prst="rect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" y="2862072"/>
            <a:ext cx="594360" cy="594360"/>
          </a:xfrm>
          <a:prstGeom prst="ellipse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2962656"/>
            <a:ext cx="393192" cy="3931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610612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36092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AI 原生统一数据底座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6092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MatrixOne · HTAP + 向量 + 全文 + Git for Data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36092" y="4526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结构化 + 非结构化数据一体化存储，消除数据孤岛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AI 原生 ETL：解析 / 分段 / 关键词 / 向量化 一步到位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PoC 印证：PPT 100% · Word 83% · 网页 75% 合格率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0644" y="5989320"/>
            <a:ext cx="2624328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6092" y="60258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Vs Coze / 千帆 ：链路自研，无 RAG 拼装损耗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323844" y="260604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323844" y="2606040"/>
            <a:ext cx="73152" cy="3840480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98164" y="2862072"/>
            <a:ext cx="594360" cy="594360"/>
          </a:xfrm>
          <a:prstGeom prst="ellips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748" y="2962656"/>
            <a:ext cx="393192" cy="39319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426964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3552444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GPU Native 多模态解析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3552444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NVIDIA AIDP 核心合作伙伴 · cuVS / cuDF / RDMA 全链路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552444" y="4526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向量检索 / 重建 / 更新 GPU 原生加速，CPU 架构 50×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7 格式 / 9 类型 / 21 P0 样本，解析层 100% 通过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已贡献代码至 NVIDIA 官方开源库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396996" y="5989320"/>
            <a:ext cx="2624328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2444" y="60258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硬件协同：与联想 ThinkSystem GPU 服务器天然适配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140196" y="260604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140196" y="2606040"/>
            <a:ext cx="73152" cy="384048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414516" y="2862072"/>
            <a:ext cx="594360" cy="594360"/>
          </a:xfrm>
          <a:prstGeom prst="ellipse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962656"/>
            <a:ext cx="393192" cy="39319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243316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en-US" sz="2200" dirty="0"/>
          </a:p>
        </p:txBody>
      </p:sp>
      <p:sp>
        <p:nvSpPr>
          <p:cNvPr id="45" name="Text 40"/>
          <p:cNvSpPr/>
          <p:nvPr/>
        </p:nvSpPr>
        <p:spPr>
          <a:xfrm>
            <a:off x="6368796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Git for Data · 可控演进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6368796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全球首个完整语义级数据版本控制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368796" y="4526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秒级快照 / 克隆 / Diff / Rollback，数据问题一键回滚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新 Agent 开发增量克隆，成本降低 80%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多部门共享同一数据底座，行业资料一次准备 N 场景复用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213348" y="5989320"/>
            <a:ext cx="2624328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368796" y="60258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护城河：决定 Agent 能否从 PoC 走向规模化复制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8956548" y="2606040"/>
            <a:ext cx="2697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8956548" y="2606040"/>
            <a:ext cx="73152" cy="3840480"/>
          </a:xfrm>
          <a:prstGeom prst="rect">
            <a:avLst/>
          </a:prstGeom>
          <a:solidFill>
            <a:srgbClr val="3D7BD8"/>
          </a:solidFill>
          <a:ln w="12700">
            <a:solidFill>
              <a:srgbClr val="3D7BD8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9230868" y="2862072"/>
            <a:ext cx="594360" cy="594360"/>
          </a:xfrm>
          <a:prstGeom prst="ellipse">
            <a:avLst/>
          </a:prstGeom>
          <a:solidFill>
            <a:srgbClr val="3D7BD8"/>
          </a:solidFill>
          <a:ln w="12700">
            <a:solidFill>
              <a:srgbClr val="3D7BD8"/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1452" y="2962656"/>
            <a:ext cx="393192" cy="393192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11059668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D7BD8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en-US" sz="2200" dirty="0"/>
          </a:p>
        </p:txBody>
      </p:sp>
      <p:sp>
        <p:nvSpPr>
          <p:cNvPr id="55" name="Text 49"/>
          <p:cNvSpPr/>
          <p:nvPr/>
        </p:nvSpPr>
        <p:spPr>
          <a:xfrm>
            <a:off x="9185148" y="3566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Astra + Memoria · 闭环可迭代</a:t>
            </a:r>
            <a:endParaRPr lang="en-US" sz="1400" dirty="0"/>
          </a:p>
        </p:txBody>
      </p:sp>
      <p:sp>
        <p:nvSpPr>
          <p:cNvPr id="56" name="Text 50"/>
          <p:cNvSpPr/>
          <p:nvPr/>
        </p:nvSpPr>
        <p:spPr>
          <a:xfrm>
            <a:off x="9185148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7BD8"/>
                </a:solidFill>
                <a:latin typeface="Microsoft YaHei"/>
                <a:ea typeface="Microsoft YaHei"/>
                <a:cs typeface="Microsoft YaHei"/>
              </a:rPr>
              <a:t>Agent Harness CICD ·  Git for Memory 记忆层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9185148" y="4526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全链路可评测 / 反馈 / 自我更新，PoC 弱项可持续抑制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灰度发布 / 版本回滚 / 防投毒，让 Agent 像微服务一样运维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跨会话长期记忆 + 企业级审计与时点回滚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9029700" y="5989320"/>
            <a:ext cx="2624328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9185148" y="60258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3D7BD8"/>
                </a:solidFill>
                <a:latin typeface="Microsoft YaHei"/>
                <a:ea typeface="Microsoft YaHei"/>
                <a:cs typeface="Microsoft YaHei"/>
              </a:rPr>
              <a:t>把 PoC 短板（图片 / TXT / 复杂 PDF）变成可迭代工作流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我们如何交付 · Platform + FDE 双层交付体系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标准化平台底座 ·  + 专家工程师团队（FDE）随项目嵌入 ·  服务 100+ 国内外企业客户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6424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MatrixOrigin · 矩阵起源    ×    联想乐享 战略合作交流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交付架构 · 标准化平台 + 嵌入式工程团队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35608"/>
            <a:ext cx="11247120" cy="86868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992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Platform · MatrixOne Intelligence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1801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AI 原生统一数智平台 · 一站式组合交付或独立使用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35040" y="1554480"/>
            <a:ext cx="182880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3D7B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MatrixOne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08192" y="1865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6F5"/>
                </a:solidFill>
                <a:latin typeface="Microsoft YaHei"/>
                <a:ea typeface="Microsoft YaHei"/>
                <a:cs typeface="Microsoft YaHei"/>
              </a:rPr>
              <a:t>HTAP 数据底座 + Git for Data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955280" y="1554480"/>
            <a:ext cx="182880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F4A2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28432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Astra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28432" y="1865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6F5"/>
                </a:solidFill>
                <a:latin typeface="Microsoft YaHei"/>
                <a:ea typeface="Microsoft YaHei"/>
                <a:cs typeface="Microsoft YaHei"/>
              </a:rPr>
              <a:t>Agent 运行时 / CICD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875520" y="1554480"/>
            <a:ext cx="182880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1AA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48672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Memoria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948672" y="1865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6F5"/>
                </a:solidFill>
                <a:latin typeface="Microsoft YaHei"/>
                <a:ea typeface="Microsoft YaHei"/>
                <a:cs typeface="Microsoft YaHei"/>
              </a:rPr>
              <a:t>长期记忆层 · Git for Memory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2468880"/>
            <a:ext cx="11247120" cy="960120"/>
          </a:xfrm>
          <a:prstGeom prst="rect">
            <a:avLst/>
          </a:prstGeom>
          <a:solidFill>
            <a:srgbClr val="F5F7FB"/>
          </a:solidFill>
          <a:ln w="15240">
            <a:solidFill>
              <a:srgbClr val="F4A2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2743200"/>
            <a:ext cx="457200" cy="457200"/>
          </a:xfrm>
          <a:prstGeom prst="ellips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816352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80160" y="2542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FDE · Forward Deployed Engineers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280160" y="28346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陪伴式工程团队 ·  随项目嵌入客户现场 / 远程驻点 ·  从 PoC 到上线全程协同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504688" y="3118104"/>
            <a:ext cx="1188720" cy="256032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04688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算法工程师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757416" y="3118104"/>
            <a:ext cx="1188720" cy="256032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57416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010144" y="3118104"/>
            <a:ext cx="1188720" cy="256032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010144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数据工程师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262872" y="3118104"/>
            <a:ext cx="1188720" cy="256032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262872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研发交付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10515600" y="3118104"/>
            <a:ext cx="1188720" cy="256032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515600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运维与运营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57200" y="3657600"/>
            <a:ext cx="215432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7200" y="3657600"/>
            <a:ext cx="2154326" cy="64008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4360" y="3840480"/>
            <a:ext cx="18800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~70</a:t>
            </a:r>
            <a:pPr algn="l" indent="0" marL="0">
              <a:buNone/>
            </a:pPr>
            <a:r>
              <a:rPr lang="en-US" sz="14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 人</a:t>
            </a:r>
            <a:endParaRPr lang="en-US" sz="3000" dirty="0"/>
          </a:p>
        </p:txBody>
      </p:sp>
      <p:sp>
        <p:nvSpPr>
          <p:cNvPr id="40" name="Text 36"/>
          <p:cNvSpPr/>
          <p:nvPr/>
        </p:nvSpPr>
        <p:spPr>
          <a:xfrm>
            <a:off x="594360" y="4434840"/>
            <a:ext cx="18800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公司总人数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2730398" y="3657600"/>
            <a:ext cx="215432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730398" y="3657600"/>
            <a:ext cx="2154326" cy="64008"/>
          </a:xfrm>
          <a:prstGeom prst="rect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867558" y="3840480"/>
            <a:ext cx="18800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&gt;70%</a:t>
            </a:r>
            <a:pPr algn="l" indent="0" marL="0">
              <a:buNone/>
            </a:pPr>
            <a:r>
              <a:rPr lang="en-US" sz="1400" b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lang="en-US" sz="3000" dirty="0"/>
          </a:p>
        </p:txBody>
      </p:sp>
      <p:sp>
        <p:nvSpPr>
          <p:cNvPr id="44" name="Text 40"/>
          <p:cNvSpPr/>
          <p:nvPr/>
        </p:nvSpPr>
        <p:spPr>
          <a:xfrm>
            <a:off x="2867558" y="4434840"/>
            <a:ext cx="18800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研发人员占比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5003597" y="3657600"/>
            <a:ext cx="215432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003597" y="3657600"/>
            <a:ext cx="2154326" cy="64008"/>
          </a:xfrm>
          <a:prstGeom prst="rect">
            <a:avLst/>
          </a:prstGeom>
          <a:solidFill>
            <a:srgbClr val="3D7BD8"/>
          </a:solidFill>
          <a:ln w="12700">
            <a:solidFill>
              <a:srgbClr val="3D7BD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40757" y="3840480"/>
            <a:ext cx="18800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7BD8"/>
                </a:solidFill>
                <a:latin typeface="Microsoft YaHei"/>
                <a:ea typeface="Microsoft YaHei"/>
                <a:cs typeface="Microsoft YaHei"/>
              </a:rPr>
              <a:t>4</a:t>
            </a:r>
            <a:pPr algn="l" indent="0" marL="0">
              <a:buNone/>
            </a:pPr>
            <a:r>
              <a:rPr lang="en-US" sz="1400" b="1" dirty="0">
                <a:solidFill>
                  <a:srgbClr val="3D7BD8"/>
                </a:solidFill>
                <a:latin typeface="Microsoft YaHei"/>
                <a:ea typeface="Microsoft YaHei"/>
                <a:cs typeface="Microsoft YaHei"/>
              </a:rPr>
              <a:t> 地</a:t>
            </a:r>
            <a:endParaRPr lang="en-US" sz="3000" dirty="0"/>
          </a:p>
        </p:txBody>
      </p:sp>
      <p:sp>
        <p:nvSpPr>
          <p:cNvPr id="48" name="Text 44"/>
          <p:cNvSpPr/>
          <p:nvPr/>
        </p:nvSpPr>
        <p:spPr>
          <a:xfrm>
            <a:off x="5140757" y="4434840"/>
            <a:ext cx="18800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上海 · 深圳 · 北京 · 硅谷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7276795" y="3657600"/>
            <a:ext cx="215432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276795" y="3657600"/>
            <a:ext cx="2154326" cy="64008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413955" y="3840480"/>
            <a:ext cx="18800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100+</a:t>
            </a:r>
            <a:pPr algn="l" indent="0" marL="0">
              <a:buNone/>
            </a:pPr>
            <a:r>
              <a:rPr lang="en-US" sz="1400" b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 家</a:t>
            </a:r>
            <a:endParaRPr lang="en-US" sz="3000" dirty="0"/>
          </a:p>
        </p:txBody>
      </p:sp>
      <p:sp>
        <p:nvSpPr>
          <p:cNvPr id="52" name="Text 48"/>
          <p:cNvSpPr/>
          <p:nvPr/>
        </p:nvSpPr>
        <p:spPr>
          <a:xfrm>
            <a:off x="7413955" y="4434840"/>
            <a:ext cx="18800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国内外付费企业客户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9549994" y="3657600"/>
            <a:ext cx="215432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9549994" y="3657600"/>
            <a:ext cx="2154326" cy="64008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9687154" y="3840480"/>
            <a:ext cx="18800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5</a:t>
            </a:r>
            <a:pPr algn="l" indent="0" marL="0">
              <a:buNone/>
            </a:pPr>
            <a:r>
              <a:rPr lang="en-US" sz="14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 年</a:t>
            </a:r>
            <a:endParaRPr lang="en-US" sz="3000" dirty="0"/>
          </a:p>
        </p:txBody>
      </p:sp>
      <p:sp>
        <p:nvSpPr>
          <p:cNvPr id="56" name="Text 52"/>
          <p:cNvSpPr/>
          <p:nvPr/>
        </p:nvSpPr>
        <p:spPr>
          <a:xfrm>
            <a:off x="9687154" y="4434840"/>
            <a:ext cx="18800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成立于 2021 年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45720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交付方法论 · 从客户业务对齐到规模化运营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457200" y="536752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典型客户：中芯国际 · 江西铜业 · 安利纽崔莱 · 腾讯 · 深智城 · StoneCastle · ARAMCO · Olsera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457200" y="5669280"/>
            <a:ext cx="2121408" cy="6858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548640" y="5715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en-US" sz="1400" dirty="0"/>
          </a:p>
        </p:txBody>
      </p:sp>
      <p:sp>
        <p:nvSpPr>
          <p:cNvPr id="61" name="Text 57"/>
          <p:cNvSpPr/>
          <p:nvPr/>
        </p:nvSpPr>
        <p:spPr>
          <a:xfrm>
            <a:off x="1051560" y="57058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业务对齐</a:t>
            </a:r>
            <a:endParaRPr lang="en-US" sz="1200" dirty="0"/>
          </a:p>
        </p:txBody>
      </p:sp>
      <p:sp>
        <p:nvSpPr>
          <p:cNvPr id="62" name="Text 58"/>
          <p:cNvSpPr/>
          <p:nvPr/>
        </p:nvSpPr>
        <p:spPr>
          <a:xfrm>
            <a:off x="548640" y="60167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深入客户场景，识别 P0 需求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 rot="5400000">
            <a:off x="2596896" y="5916168"/>
            <a:ext cx="128016" cy="182880"/>
          </a:xfrm>
          <a:prstGeom prst="rtTriangl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2743200" y="5669280"/>
            <a:ext cx="2121408" cy="6858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2834640" y="5715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en-US" sz="1400" dirty="0"/>
          </a:p>
        </p:txBody>
      </p:sp>
      <p:sp>
        <p:nvSpPr>
          <p:cNvPr id="66" name="Text 62"/>
          <p:cNvSpPr/>
          <p:nvPr/>
        </p:nvSpPr>
        <p:spPr>
          <a:xfrm>
            <a:off x="3337560" y="57058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PoC 验证</a:t>
            </a:r>
            <a:endParaRPr lang="en-US" sz="1200" dirty="0"/>
          </a:p>
        </p:txBody>
      </p:sp>
      <p:sp>
        <p:nvSpPr>
          <p:cNvPr id="67" name="Text 63"/>
          <p:cNvSpPr/>
          <p:nvPr/>
        </p:nvSpPr>
        <p:spPr>
          <a:xfrm>
            <a:off x="2834640" y="60167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样本数据 + 端到端打分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 rot="5400000">
            <a:off x="4882896" y="5916168"/>
            <a:ext cx="128016" cy="182880"/>
          </a:xfrm>
          <a:prstGeom prst="rtTriangl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5029200" y="5669280"/>
            <a:ext cx="2121408" cy="6858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5120640" y="5715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en-US" sz="1400" dirty="0"/>
          </a:p>
        </p:txBody>
      </p:sp>
      <p:sp>
        <p:nvSpPr>
          <p:cNvPr id="71" name="Text 67"/>
          <p:cNvSpPr/>
          <p:nvPr/>
        </p:nvSpPr>
        <p:spPr>
          <a:xfrm>
            <a:off x="5623560" y="57058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联合开发</a:t>
            </a:r>
            <a:endParaRPr lang="en-US" sz="1200" dirty="0"/>
          </a:p>
        </p:txBody>
      </p:sp>
      <p:sp>
        <p:nvSpPr>
          <p:cNvPr id="72" name="Text 68"/>
          <p:cNvSpPr/>
          <p:nvPr/>
        </p:nvSpPr>
        <p:spPr>
          <a:xfrm>
            <a:off x="5120640" y="60167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FDE 现场 ·  方案级共建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 rot="5400000">
            <a:off x="7168896" y="5916168"/>
            <a:ext cx="128016" cy="182880"/>
          </a:xfrm>
          <a:prstGeom prst="rtTriangl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7315200" y="5669280"/>
            <a:ext cx="2121408" cy="6858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7406640" y="5715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en-US" sz="1400" dirty="0"/>
          </a:p>
        </p:txBody>
      </p:sp>
      <p:sp>
        <p:nvSpPr>
          <p:cNvPr id="76" name="Text 72"/>
          <p:cNvSpPr/>
          <p:nvPr/>
        </p:nvSpPr>
        <p:spPr>
          <a:xfrm>
            <a:off x="7909560" y="57058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上线交付</a:t>
            </a:r>
            <a:endParaRPr lang="en-US" sz="1200" dirty="0"/>
          </a:p>
        </p:txBody>
      </p:sp>
      <p:sp>
        <p:nvSpPr>
          <p:cNvPr id="77" name="Text 73"/>
          <p:cNvSpPr/>
          <p:nvPr/>
        </p:nvSpPr>
        <p:spPr>
          <a:xfrm>
            <a:off x="7406640" y="60167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私有化 / 私有云 / SaaS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 rot="5400000">
            <a:off x="9454896" y="5916168"/>
            <a:ext cx="128016" cy="182880"/>
          </a:xfrm>
          <a:prstGeom prst="rtTriangl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9601200" y="5669280"/>
            <a:ext cx="2121408" cy="68580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9692640" y="5715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lang="en-US" sz="1400" dirty="0"/>
          </a:p>
        </p:txBody>
      </p:sp>
      <p:sp>
        <p:nvSpPr>
          <p:cNvPr id="81" name="Text 77"/>
          <p:cNvSpPr/>
          <p:nvPr/>
        </p:nvSpPr>
        <p:spPr>
          <a:xfrm>
            <a:off x="10195560" y="57058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持续运营</a:t>
            </a:r>
            <a:endParaRPr lang="en-US" sz="1200" dirty="0"/>
          </a:p>
        </p:txBody>
      </p:sp>
      <p:sp>
        <p:nvSpPr>
          <p:cNvPr id="82" name="Text 78"/>
          <p:cNvSpPr/>
          <p:nvPr/>
        </p:nvSpPr>
        <p:spPr>
          <a:xfrm>
            <a:off x="9692640" y="60167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Agent CICD ·  指标驱动迭代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我们的商业模式 · 软件 + 服务 + 行业方案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三层收入结构 · 多种部署形态 ·  并为联想乐享提供清晰的 OEM / 联合 GTM 接入点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06424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MatrixOrigin · 矩阵起源    ×    联想乐享 战略合作交流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37490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3749040" cy="777240"/>
          </a:xfrm>
          <a:prstGeom prst="rect">
            <a:avLst/>
          </a:prstGeom>
          <a:solidFill>
            <a:srgbClr val="1F4E96"/>
          </a:solidFill>
          <a:ln w="12700">
            <a:solidFill>
              <a:srgbClr val="1F4E9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12344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252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· Software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平台软件订阅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864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MatrixOne Intelligence Platform License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26974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计价模型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2916936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935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按节点 / 数据规模 / 功能模块组合订阅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组件粒度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3447288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4655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MatrixOne / Astra / Memoria 可独立或组合售卖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37581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部署形态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3977640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9959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私有化部署 · 私有云 · SaaS · BYO Cloud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325112"/>
            <a:ext cx="374904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343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F4E96"/>
                </a:solidFill>
                <a:latin typeface="Microsoft YaHei"/>
                <a:ea typeface="Microsoft YaHei"/>
                <a:cs typeface="Microsoft YaHei"/>
              </a:rPr>
              <a:t>稳定订阅收入 · 客户长期绑定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206240" y="1051560"/>
            <a:ext cx="37490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06240" y="1051560"/>
            <a:ext cx="3749040" cy="777240"/>
          </a:xfrm>
          <a:prstGeom prst="rect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123444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583680" y="1252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· Services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48056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专业服务（FDE）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448056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Forward Deployed Engineering 团队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480560" y="26974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计价模型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80560" y="2916936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480560" y="2935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按人天 / 项目里程碑 / 长期驻场年包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480560" y="32278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团队组合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480560" y="3447288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480560" y="34655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算法 + 解决方案 + 数据 + 研发 + 运维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480560" y="37581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交付场景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480560" y="3977640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80560" y="39959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PoC · 联合开发 · 上线交付 · 持续运营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206240" y="4325112"/>
            <a:ext cx="374904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480560" y="4343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4A21A"/>
                </a:solidFill>
                <a:latin typeface="Microsoft YaHei"/>
                <a:ea typeface="Microsoft YaHei"/>
                <a:cs typeface="Microsoft YaHei"/>
              </a:rPr>
              <a:t>高毛利专家服务 · 是 OEM 合作的核心承载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8138160" y="1051560"/>
            <a:ext cx="37490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8138160" y="1051560"/>
            <a:ext cx="3749040" cy="777240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1234440"/>
            <a:ext cx="411480" cy="41148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0515600" y="1252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· Solutions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41248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行业方案包</a:t>
            </a:r>
            <a:endParaRPr lang="en-US" sz="1700" dirty="0"/>
          </a:p>
        </p:txBody>
      </p:sp>
      <p:sp>
        <p:nvSpPr>
          <p:cNvPr id="47" name="Text 42"/>
          <p:cNvSpPr/>
          <p:nvPr/>
        </p:nvSpPr>
        <p:spPr>
          <a:xfrm>
            <a:off x="841248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Vertical Solution Pack on MOI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8412480" y="26974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已成形方案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8412480" y="2916936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412480" y="2935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企业知识库 · 智能客服 · 制造维护 · 多模态语料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8412480" y="32278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构成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8412480" y="3447288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8412480" y="34655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MOI 平台 + 行业数据集 + Prompt/Skill + FDE 实施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8412480" y="37581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可复用资产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8412480" y="3977640"/>
            <a:ext cx="3246120" cy="9144"/>
          </a:xfrm>
          <a:prstGeom prst="rect">
            <a:avLst/>
          </a:prstGeom>
          <a:solidFill>
            <a:srgbClr val="D9DEE9"/>
          </a:solidFill>
          <a:ln w="12700">
            <a:solidFill>
              <a:srgbClr val="D9DEE9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8412480" y="39959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icrosoft YaHei"/>
                <a:ea typeface="Microsoft YaHei"/>
                <a:cs typeface="Microsoft YaHei"/>
              </a:rPr>
              <a:t>Git for Data 数据集模板 · 行业 Agent 蓝图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8138160" y="4325112"/>
            <a:ext cx="374904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412480" y="4343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A39A"/>
                </a:solidFill>
                <a:latin typeface="Microsoft YaHei"/>
                <a:ea typeface="Microsoft YaHei"/>
                <a:cs typeface="Microsoft YaHei"/>
              </a:rPr>
              <a:t>联想乐享联合方案的天然载体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457200" y="4846320"/>
            <a:ext cx="5943600" cy="1691640"/>
          </a:xfrm>
          <a:prstGeom prst="rect">
            <a:avLst/>
          </a:prstGeom>
          <a:solidFill>
            <a:srgbClr val="F5F7FB"/>
          </a:solidFill>
          <a:ln w="9525">
            <a:solidFill>
              <a:srgbClr val="D9DEE9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40080" y="4937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部署形态 · 客户主权优先</a:t>
            </a:r>
            <a:endParaRPr lang="en-US" sz="1200" dirty="0"/>
          </a:p>
        </p:txBody>
      </p:sp>
      <p:sp>
        <p:nvSpPr>
          <p:cNvPr id="61" name="Shape 56"/>
          <p:cNvSpPr/>
          <p:nvPr/>
        </p:nvSpPr>
        <p:spPr>
          <a:xfrm>
            <a:off x="640080" y="5303520"/>
            <a:ext cx="182880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9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822960" y="5440680"/>
            <a:ext cx="411480" cy="411480"/>
          </a:xfrm>
          <a:prstGeom prst="ellipse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" y="5504688"/>
            <a:ext cx="274320" cy="274320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1325880" y="54132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私有化</a:t>
            </a:r>
            <a:endParaRPr lang="en-US" sz="1200" dirty="0"/>
          </a:p>
        </p:txBody>
      </p:sp>
      <p:sp>
        <p:nvSpPr>
          <p:cNvPr id="65" name="Text 59"/>
          <p:cNvSpPr/>
          <p:nvPr/>
        </p:nvSpPr>
        <p:spPr>
          <a:xfrm>
            <a:off x="822960" y="5925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客户机房，数据完全自主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2514600" y="5303520"/>
            <a:ext cx="182880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9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2697480" y="5440680"/>
            <a:ext cx="411480" cy="411480"/>
          </a:xfrm>
          <a:prstGeom prst="ellipse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6060" y="5504688"/>
            <a:ext cx="274320" cy="274320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3200400" y="54132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私有云</a:t>
            </a:r>
            <a:endParaRPr lang="en-US" sz="1200" dirty="0"/>
          </a:p>
        </p:txBody>
      </p:sp>
      <p:sp>
        <p:nvSpPr>
          <p:cNvPr id="70" name="Text 63"/>
          <p:cNvSpPr/>
          <p:nvPr/>
        </p:nvSpPr>
        <p:spPr>
          <a:xfrm>
            <a:off x="2697480" y="5925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VPC / BYO Cloud，灵活弹性</a:t>
            </a:r>
            <a:endParaRPr lang="en-US" sz="900" dirty="0"/>
          </a:p>
        </p:txBody>
      </p:sp>
      <p:sp>
        <p:nvSpPr>
          <p:cNvPr id="71" name="Shape 64"/>
          <p:cNvSpPr/>
          <p:nvPr/>
        </p:nvSpPr>
        <p:spPr>
          <a:xfrm>
            <a:off x="4389120" y="5303520"/>
            <a:ext cx="182880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9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4572000" y="5440680"/>
            <a:ext cx="411480" cy="411480"/>
          </a:xfrm>
          <a:prstGeom prst="ellipse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580" y="5504688"/>
            <a:ext cx="274320" cy="274320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5074920" y="54132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C"/>
                </a:solidFill>
                <a:latin typeface="Microsoft YaHei"/>
                <a:ea typeface="Microsoft YaHei"/>
                <a:cs typeface="Microsoft YaHei"/>
              </a:rPr>
              <a:t>SaaS</a:t>
            </a:r>
            <a:endParaRPr lang="en-US" sz="1200" dirty="0"/>
          </a:p>
        </p:txBody>
      </p:sp>
      <p:sp>
        <p:nvSpPr>
          <p:cNvPr id="75" name="Text 67"/>
          <p:cNvSpPr/>
          <p:nvPr/>
        </p:nvSpPr>
        <p:spPr>
          <a:xfrm>
            <a:off x="4572000" y="5925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7A"/>
                </a:solidFill>
                <a:latin typeface="Microsoft YaHei"/>
                <a:ea typeface="Microsoft YaHei"/>
                <a:cs typeface="Microsoft YaHei"/>
              </a:rPr>
              <a:t>MOI 多区域托管，开箱即用</a:t>
            </a:r>
            <a:endParaRPr lang="en-US" sz="900" dirty="0"/>
          </a:p>
        </p:txBody>
      </p:sp>
      <p:sp>
        <p:nvSpPr>
          <p:cNvPr id="76" name="Shape 68"/>
          <p:cNvSpPr/>
          <p:nvPr/>
        </p:nvSpPr>
        <p:spPr>
          <a:xfrm>
            <a:off x="6583680" y="4846320"/>
            <a:ext cx="5120640" cy="1691640"/>
          </a:xfrm>
          <a:prstGeom prst="rect">
            <a:avLst/>
          </a:prstGeom>
          <a:solidFill>
            <a:srgbClr val="0E2A5C"/>
          </a:solidFill>
          <a:ln w="12700">
            <a:solidFill>
              <a:srgbClr val="0E2A5C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6766560" y="5029200"/>
            <a:ext cx="457200" cy="457200"/>
          </a:xfrm>
          <a:prstGeom prst="ellips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284" y="5106924"/>
            <a:ext cx="301752" cy="301752"/>
          </a:xfrm>
          <a:prstGeom prst="rect">
            <a:avLst/>
          </a:prstGeom>
        </p:spPr>
      </p:pic>
      <p:sp>
        <p:nvSpPr>
          <p:cNvPr id="79" name="Text 70"/>
          <p:cNvSpPr/>
          <p:nvPr/>
        </p:nvSpPr>
        <p:spPr>
          <a:xfrm>
            <a:off x="7315200" y="5047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联想乐享的接入点</a:t>
            </a:r>
            <a:endParaRPr lang="en-US" sz="1600" dirty="0"/>
          </a:p>
        </p:txBody>
      </p:sp>
      <p:sp>
        <p:nvSpPr>
          <p:cNvPr id="80" name="Text 71"/>
          <p:cNvSpPr/>
          <p:nvPr/>
        </p:nvSpPr>
        <p:spPr>
          <a:xfrm>
            <a:off x="6766560" y="5559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C7E8"/>
                </a:solidFill>
                <a:latin typeface="Microsoft YaHei"/>
                <a:ea typeface="Microsoft YaHei"/>
                <a:cs typeface="Microsoft YaHei"/>
              </a:rPr>
              <a:t>现有三层模式天然支持联合 GTM 与团队 OEM →</a:t>
            </a:r>
            <a:endParaRPr lang="en-US" sz="1000" dirty="0"/>
          </a:p>
        </p:txBody>
      </p:sp>
      <p:sp>
        <p:nvSpPr>
          <p:cNvPr id="81" name="Shape 72"/>
          <p:cNvSpPr/>
          <p:nvPr/>
        </p:nvSpPr>
        <p:spPr>
          <a:xfrm>
            <a:off x="6766560" y="5897880"/>
            <a:ext cx="91440" cy="91440"/>
          </a:xfrm>
          <a:prstGeom prst="ellips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82" name="Text 73"/>
          <p:cNvSpPr/>
          <p:nvPr/>
        </p:nvSpPr>
        <p:spPr>
          <a:xfrm>
            <a:off x="6949440" y="58521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OEM FDE 团队 ·  以联想乐享品牌承接客户</a:t>
            </a:r>
            <a:endParaRPr lang="en-US" sz="1050" dirty="0"/>
          </a:p>
        </p:txBody>
      </p:sp>
      <p:sp>
        <p:nvSpPr>
          <p:cNvPr id="83" name="Shape 74"/>
          <p:cNvSpPr/>
          <p:nvPr/>
        </p:nvSpPr>
        <p:spPr>
          <a:xfrm>
            <a:off x="6766560" y="6099048"/>
            <a:ext cx="91440" cy="91440"/>
          </a:xfrm>
          <a:prstGeom prst="ellips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84" name="Text 75"/>
          <p:cNvSpPr/>
          <p:nvPr/>
        </p:nvSpPr>
        <p:spPr>
          <a:xfrm>
            <a:off x="6949440" y="6053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联合方案包 ·  乐享行业 Know-How + MOI 平台</a:t>
            </a:r>
            <a:endParaRPr lang="en-US" sz="1050" dirty="0"/>
          </a:p>
        </p:txBody>
      </p:sp>
      <p:sp>
        <p:nvSpPr>
          <p:cNvPr id="85" name="Shape 76"/>
          <p:cNvSpPr/>
          <p:nvPr/>
        </p:nvSpPr>
        <p:spPr>
          <a:xfrm>
            <a:off x="6766560" y="6300216"/>
            <a:ext cx="91440" cy="91440"/>
          </a:xfrm>
          <a:prstGeom prst="ellipse">
            <a:avLst/>
          </a:prstGeom>
          <a:solidFill>
            <a:srgbClr val="F4A21A"/>
          </a:solidFill>
          <a:ln w="12700">
            <a:solidFill>
              <a:srgbClr val="F4A21A"/>
            </a:solidFill>
            <a:prstDash val="solid"/>
          </a:ln>
        </p:spPr>
      </p:sp>
      <p:sp>
        <p:nvSpPr>
          <p:cNvPr id="86" name="Text 77"/>
          <p:cNvSpPr/>
          <p:nvPr/>
        </p:nvSpPr>
        <p:spPr>
          <a:xfrm>
            <a:off x="6949440" y="62544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渠道分润 ·  软件订阅 / 服务 / 方案三层均可分账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战略合作提案 ·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0" y="73152"/>
            <a:ext cx="201168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NVIDIA 生态赋能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0" y="73152"/>
            <a:ext cx="2011680" cy="320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矩阵起源 数据层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0" y="73152"/>
            <a:ext cx="2011680" cy="320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联想 SSG 交付层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0" y="45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45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5486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以数据智能，连接算力与政企 AI 应用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矩阵起源是 NVIDIA 生态中企业 AI 数据服务的核心合作伙伴，携手联想 SSG 共建政企 AI 落地最佳实践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3474720" cy="420624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737360"/>
            <a:ext cx="347472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生态赋能底座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NVIDIA Ecosystem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2286000" cy="2560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51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GPU · DPU · InfiniBand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2971800"/>
            <a:ext cx="2286000" cy="2560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71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NIM · NeMo · CUDA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" y="3291840"/>
            <a:ext cx="2286000" cy="256032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91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CuVS · CuDF · 深度共建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NVIDIA 生态 · 数据服务优先合作伙伴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矩阵起源  MatrixOrigin
</a:t>
            </a:r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AI 原生多模态数据智能平台
Control Your Data, Trust Your AI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MatrixOne          MatrixPipeline
</a:t>
            </a:r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超融合云原生数据库    多模态数据治理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MatrixGenesis       MatrixCopilot
</a:t>
            </a:r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AI 模型服务              数据服务助手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1737360"/>
            <a:ext cx="3474720" cy="420624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1737360"/>
            <a:ext cx="3474720" cy="320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政企交付生态伙伴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联想 SSG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2514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中国 IT 服务 No.1 · 政企 AI 方案领先厂商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283464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基础设施硬件
</a:t>
            </a:r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ThinkSystem GPU 服务器 · 凌拓存储
DGX 系列 · 智能工作站全系产品线
NVIDIA 认证，政企级 AI 基础设施标准配置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擎天 AI 平台
</a:t>
            </a:r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企业 AI 应用开发 · 运维 · 管理一体化底座
与 MOI 数据智能平台深度融合
全生命周期 AI 落地管理与持续迭代服务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 交付体系
</a:t>
            </a:r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联合交付 + 集成 + 运维全链路服务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6000+ 政企客户 · 政务/教育/制造/金融/能源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B1-B4 政企全覆盖，行业深度方案落地能力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1737360"/>
            <a:ext cx="3474720" cy="420624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0" y="1737360"/>
            <a:ext cx="3474720" cy="3200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核心价值指标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2286000"/>
            <a:ext cx="3108960" cy="109728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2377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Microsoft YaHei"/>
                <a:ea typeface="Microsoft YaHei"/>
                <a:cs typeface="Microsoft YaHei"/>
              </a:rPr>
              <a:t>2–3×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32104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AI 准确率提升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3566160"/>
            <a:ext cx="3108960" cy="109728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3657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Microsoft YaHei"/>
                <a:ea typeface="Microsoft YaHei"/>
                <a:cs typeface="Microsoft YaHei"/>
              </a:rPr>
              <a:t>30–70%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832104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TCO 降低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846320"/>
            <a:ext cx="3108960" cy="109728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4937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3–5×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32104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交付加速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MatrixOrigin × Lenovo SSG  |  Powered by NVIDIA Ecosystem  |  战略合作提案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三大核心合作落地方向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矩阵起源 × 联想 SSG  |  基于 NVIDIA 生态赋能的战略协同路径 ·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66160" cy="493776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56616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01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Factory Rack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一体化 AI 工厂交付 · NVIDIA 认证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200400" cy="2743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目标客户 › 中大型技术型企业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43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算力硬件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ThinkSystem GPU + 凌拓存储 + DGX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NVIDIA 认证一体机，开箱即用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94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 + 企业智能平台 | 擎天AI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050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MOI 满足训练·推理·数据服务全栈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擎天AI 支撑企业 AI 端到端开发运维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489204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端到端交付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10235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联想 SSG 集成交付，硬件到应用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OEM → 软件 → 服务全链路升级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" y="5532120"/>
            <a:ext cx="3291840" cy="54864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532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技术型企业首选：NVIDIA 认证 + MOI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数据智能 + 联想全程集成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51960" y="1280160"/>
            <a:ext cx="3566160" cy="493776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1280160"/>
            <a:ext cx="35661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1417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Microsoft YaHei"/>
                <a:ea typeface="Microsoft YaHei"/>
                <a:cs typeface="Microsoft YaHei"/>
              </a:rPr>
              <a:t>02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 联合服务交付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434840" y="1993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Microsoft YaHei"/>
                <a:ea typeface="Microsoft YaHei"/>
                <a:cs typeface="Microsoft YaHei"/>
              </a:rPr>
              <a:t>MOI + 擎天AI 底座 · 全生命周期 Agent 落地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34840" y="2286000"/>
            <a:ext cx="3200400" cy="2743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目标客户 › 中型偏业务型企业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278892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2743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平台底座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9992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MOI + 联想擎天 AI 融合底座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数据治理→模型→Agent 全链路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80560" y="384048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94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联合支撑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050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联想+矩阵起源+生态合作伙伴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FDE 规模化低成本联合交付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489204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服务验证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510235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开发·运维·迭代全生命周期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乐享 PoC：解析 100%，问答 66.2%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89120" y="5532120"/>
            <a:ext cx="3291840" cy="54864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38" name="Text 36"/>
          <p:cNvSpPr/>
          <p:nvPr/>
        </p:nvSpPr>
        <p:spPr>
          <a:xfrm>
            <a:off x="4480560" y="5532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Microsoft YaHei"/>
                <a:ea typeface="Microsoft YaHei"/>
                <a:cs typeface="Microsoft YaHei"/>
              </a:rPr>
              <a:t>FDE 驱动 AI Agent 全程落地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Microsoft YaHei"/>
                <a:ea typeface="Microsoft YaHei"/>
                <a:cs typeface="Microsoft YaHei"/>
              </a:rPr>
              <a:t>无需自建技术团队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046720" y="1280160"/>
            <a:ext cx="3566160" cy="493776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1280160"/>
            <a:ext cx="356616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1417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03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Store</a:t>
            </a:r>
            <a:endParaRPr lang="en-US" sz="2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模版化交付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229600" y="1993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标准化 Agent · 联想硬件绑定快速落地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29600" y="2286000"/>
            <a:ext cx="3200400" cy="27432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44" name="Text 42"/>
          <p:cNvSpPr/>
          <p:nvPr/>
        </p:nvSpPr>
        <p:spPr>
          <a:xfrm>
            <a:off x="832104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Microsoft YaHei"/>
                <a:ea typeface="Microsoft YaHei"/>
                <a:cs typeface="Microsoft YaHei"/>
              </a:rPr>
              <a:t>目标客户 › 中小企业，标准化需求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75320" y="278892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6" name="Text 44"/>
          <p:cNvSpPr/>
          <p:nvPr/>
        </p:nvSpPr>
        <p:spPr>
          <a:xfrm>
            <a:off x="8458200" y="2743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硬件绑定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58200" y="29992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智能工作站 + DGX 系列 + MOI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开箱即用 AI 解决方案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75320" y="384048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3794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预制模板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58200" y="4050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政务/制造/金融/教育 Agent 模板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4–6 周快速上线，规模复制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75320" y="489204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联合运营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58200" y="510235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联想 FDE 交付+矩阵 Agent 迭代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订阅收费，持续能力进化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183880" y="5532120"/>
            <a:ext cx="3291840" cy="548640"/>
          </a:xfrm>
          <a:prstGeom prst="rect">
            <a:avLst/>
          </a:prstGeom>
          <a:solidFill>
            <a:srgbClr val="1D3354"/>
          </a:solidFill>
          <a:ln/>
        </p:spPr>
      </p:sp>
      <p:sp>
        <p:nvSpPr>
          <p:cNvPr id="55" name="Text 53"/>
          <p:cNvSpPr/>
          <p:nvPr/>
        </p:nvSpPr>
        <p:spPr>
          <a:xfrm>
            <a:off x="8275320" y="5532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中小企业首选：标准化 Agent 硬件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Microsoft YaHei"/>
                <a:ea typeface="Microsoft YaHei"/>
                <a:cs typeface="Microsoft YaHei"/>
              </a:rPr>
              <a:t>绑定，快速低成本 AI 落地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MatrixOrigin × Lenovo SSG  |  Powered by NVIDIA Ecosystem  |  战略合作提案 2026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WPS Sheets</Application>
  <PresentationFormat>On-screen Show (4:3)</PresentationFormat>
  <Paragraphs>304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SimSun</vt:lpstr>
      <vt:lpstr>Wingdings</vt:lpstr>
      <vt:lpstr>Arial</vt:lpstr>
      <vt:lpstr>Microsoft YaHei</vt:lpstr>
      <vt:lpstr>汉仪旗黑</vt:lpstr>
      <vt:lpstr>Calibri</vt:lpstr>
      <vt:lpstr>Helvetica Neue</vt:lpstr>
      <vt:lpstr>宋体-简</vt:lpstr>
      <vt:lpstr>Arial Unicode MS</vt:lpstr>
      <vt:lpstr>Microsoft YaHei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liubo</cp:lastModifiedBy>
  <cp:revision>3</cp:revision>
  <dcterms:created xsi:type="dcterms:W3CDTF">2026-05-07T09:19:14Z</dcterms:created>
  <dcterms:modified xsi:type="dcterms:W3CDTF">2026-05-07T09:19:14Z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97399CF640676E46FC58FC698D064614_42</vt:lpwstr>
  </property>
  <property fmtid="{D5CDD505-2E9C-101B-9397-08002B2CF9AE}" pid="3" name="KSOProductBuildVer">
    <vt:lpwstr>1033-12.1.23159.23159</vt:lpwstr>
  </property>
</Properties>
</file>